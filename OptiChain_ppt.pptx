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70" r:id="rId9"/>
    <p:sldId id="274" r:id="rId10"/>
    <p:sldId id="27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01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2440"/>
                </a:solidFill>
              </a:rPr>
              <a:t>Mini-Project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0" y="6419088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56B85"/>
                </a:solidFill>
              </a:rPr>
              <a:t>Department of Artificial Intelligence and Machine Learning</a:t>
            </a:r>
            <a:endParaRPr lang="en-US" sz="9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b="1" dirty="0">
                <a:solidFill>
                  <a:srgbClr val="5B2D8E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D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28432" y="0"/>
            <a:ext cx="4160520" cy="68580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3246120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College masc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266444"/>
            <a:ext cx="3246120" cy="4325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572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C518"/>
                </a:solidFill>
              </a:rPr>
              <a:t>DEPARTMENT OF ARTIFICIAL INTELLIGENCE AND MACHINE LEARNING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2240280"/>
            <a:ext cx="82296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OPTICHAIN: MULTI-AGENT SUPPLY CHAIN PLANNING PLATFORM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611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D6EE"/>
                </a:solidFill>
              </a:rPr>
              <a:t>AD23731 Foundations of Agentic AI  |  Mini-Project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30352" y="429768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3D1F5E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C518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FFFF"/>
                </a:solidFill>
              </a:rPr>
              <a:t>Ganesh S (231501046)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FFFF"/>
                </a:solidFill>
              </a:rPr>
              <a:t>Gokulakrishnan S (231501054)</a:t>
            </a:r>
            <a:endParaRPr lang="en-US" sz="14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C02E694-1B09-7288-E87C-EA7A13D76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10778"/>
            <a:ext cx="3021508" cy="76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5212080" cy="466344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440"/>
                </a:solidFill>
              </a:rPr>
              <a:t>Supply Planning Needs Verifiable Numbers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659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</a:rPr>
              <a:t>How can a supply decision be made from a plain-English request while every quantity, cost and delivery figure stays tied to a verifiable source, and a human planner can still review and adjust the plan?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611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56B85"/>
                </a:solidFill>
              </a:rPr>
              <a:t>Planners piece together forecasts, supplier prices, routes and policy from several spreadsheets and documents.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56B85"/>
                </a:solidFill>
              </a:rPr>
              <a:t>General-purpose LLMs sound plausible but invent quantities, costs and lead times that cannot be audited.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56B85"/>
                </a:solidFill>
              </a:rPr>
              <a:t>Policy documents exist but are not consulted automatically when a plan is produced.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40"/>
                </a:solidFill>
              </a:rPr>
              <a:t>Inefficient Planning Workflow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7830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</a:rPr>
              <a:t>01   DATA SCATTERED ACROSS SHEETS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6829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18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0" y="2624328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6243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</a:rPr>
              <a:t>02   LLMS INVENT QUANTITIES AND COSTS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0954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18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3465576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4655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</a:rPr>
              <a:t>03   RULE SYSTEMS IGNORE TEXT FEEDBACK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05079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18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0" y="4306824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3068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</a:rPr>
              <a:t>04   WHAT-IF NEEDS A FULL MANUAL RERUN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518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5148072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51480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 NO TRACEABLE, AUDITABLE PLAN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0E4ABB-6281-39D8-2649-E3F9820C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Proposed System: Planning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6B85"/>
                </a:solidFill>
              </a:rPr>
              <a:t>Combines intent parsing, five specialist agents, policy RAG, MILP optimisation and human review in one LangGraph pipeline.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3419856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7452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Natural-Language Query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7744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Planner types a plain-English request; the React UI sends it to the FastAPI /decisions endpoint.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4548" y="1783080"/>
            <a:ext cx="3419856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1708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170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3188" y="187452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Intent Parsing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1708" y="237744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Gemini (or deterministic mock parser) extracts product, quantity, horizon, lead time and risk preference.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1856" y="1783080"/>
            <a:ext cx="3419856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29016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40496" y="187452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Multi-Agent Fact Collection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29016" y="237744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Demand, Supplier, Route, Inventory and Risk agents read only their own PostgreSQL tables.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977640"/>
            <a:ext cx="3419856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06908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MILP Optimization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57200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OR-Tools minimises procurement, transport, holding and risk-penalty cost under capacity and MOQ limits.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4548" y="3977640"/>
            <a:ext cx="3419856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1708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2170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933188" y="406908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Validate and Replan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21708" y="457200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Validator checks demand coverage and capacity; infeasible plans replan with relaxed constraints (max two).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91856" y="3977640"/>
            <a:ext cx="3419856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29016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29016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540496" y="4069080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Review and Recommendation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129016" y="4572000"/>
            <a:ext cx="3145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Planner approves or gives feedback; the recommendation attributes every figure to its source.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D4D14D-2290-366F-D8D8-E3904A9E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Proposed System: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5F3BE1-7C8A-725C-8A3C-415C18727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1091671" cy="50287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94C99E-DC21-9986-8B83-2422EA913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Agent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6B85"/>
                </a:solidFill>
              </a:rPr>
              <a:t>Eleven agent and service components; the supervisor, optimizer and validator coordinate the eight shown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Intent Parser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7744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Product, quantity, horizon, 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65576" y="178308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2736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014216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Demand Agent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02736" y="237744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Forecast and net requirement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53912" y="178308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Supplier Agent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37744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Price, capacity, MOQ, lead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42248" y="178308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9408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7940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90888" y="187452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Route Agent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79408" y="237744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Lanes, fuel factor, disruptions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397764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069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Inventory Agent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57200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Stock, safety stock, net buy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65576" y="397764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02736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02736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014216" y="4069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Risk Agent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602736" y="457200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0-100 score from reliability and events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53912" y="397764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1072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910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702552" y="4069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Policy RAG Agent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291072" y="457200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Hybrid policy retrieval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42248" y="3977640"/>
            <a:ext cx="2523744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79408" y="411480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79408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390888" y="4069080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HITL Review Agent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979408" y="4572000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56B85"/>
                </a:solidFill>
              </a:rPr>
              <a:t>Feedback to solver constraints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1439B-52CF-5BC0-BDA5-4C6E74043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Module: OR-Tools MILP Optimizer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6B85"/>
                </a:solidFill>
              </a:rPr>
              <a:t>The solver, not the language model, produces every quantity, cost and delivery figure.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106344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7452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8745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</a:rPr>
              <a:t>COST 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783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Procurement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6B85"/>
                </a:solidFill>
              </a:rPr>
              <a:t>Unit prices from the selected supplier offers in the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386584"/>
            <a:ext cx="106344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478024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4780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</a:rPr>
              <a:t>COST 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38658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Transport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38658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6B85"/>
                </a:solidFill>
              </a:rPr>
              <a:t>Lane cost with fuel factor and any what-if fuel multiplier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990088"/>
            <a:ext cx="106344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081528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081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</a:rPr>
              <a:t>COST 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299008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Holding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99008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6B85"/>
                </a:solidFill>
              </a:rPr>
              <a:t>Cost of carrying stock across the four distribution centres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93592"/>
            <a:ext cx="106344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685032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36850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</a:rPr>
              <a:t>COST 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35935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Risk Penalty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59359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6B85"/>
                </a:solidFill>
              </a:rPr>
              <a:t>Penalty from supplier reliability, risk tier and open risk events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4197096"/>
            <a:ext cx="1063447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288536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2885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518"/>
                </a:solidFill>
              </a:rPr>
              <a:t>RULE 05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1970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40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419709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6B85"/>
                </a:solidFill>
              </a:rPr>
              <a:t>Supplier capacity, MOQ and net demand after stock and safety stock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937760"/>
            <a:ext cx="10634472" cy="1051560"/>
          </a:xfrm>
          <a:prstGeom prst="roundRect">
            <a:avLst>
              <a:gd name="adj" fmla="val 6087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5010912"/>
            <a:ext cx="10177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</a:rPr>
              <a:t>OBJECTIVE AND VALIDATION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Minimise total cost = procurement + transport + holding + risk penalty. The validator then checks coverage and capacity, with up to two relaxed replans.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E6168-593D-B1A2-711D-0FA20C4E7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Module: Human-in-the-Loop and What-If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6B85"/>
                </a:solidFill>
              </a:rPr>
              <a:t>Every plan starts as pending_review; the planner stays in authority over the final decision.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20116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440"/>
                </a:solidFill>
              </a:rPr>
              <a:t>Pending Review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756B85"/>
                </a:solidFill>
              </a:rPr>
              <a:t>Every completed plan waits for the planner.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783080"/>
            <a:ext cx="20116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440"/>
                </a:solidFill>
              </a:rPr>
              <a:t>Approve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756B85"/>
                </a:solidFill>
              </a:rPr>
              <a:t>Plan status set; no new plan is created.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1783080"/>
            <a:ext cx="20116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440"/>
                </a:solidFill>
              </a:rPr>
              <a:t>Apply Feedback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756B85"/>
                </a:solidFill>
              </a:rPr>
              <a:t>e.g. "exclude supplier SUP-C, max lead time 25 days".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23760" y="1783080"/>
            <a:ext cx="20116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440"/>
                </a:solidFill>
              </a:rPr>
              <a:t>Linked Replan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756B85"/>
                </a:solidFill>
              </a:rPr>
              <a:t>Feedback becomes constraints; child plan links to parent.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72600" y="1783080"/>
            <a:ext cx="20116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0" y="1920240"/>
            <a:ext cx="310896" cy="310896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976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40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1874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440"/>
                </a:solidFill>
              </a:rPr>
              <a:t>Compared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756B85"/>
                </a:solidFill>
              </a:rPr>
              <a:t>Cost, delivery time, risk and unmet demand.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3566160"/>
            <a:ext cx="521208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</a:rPr>
              <a:t>What-If Scenario Types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402336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440"/>
                </a:solidFill>
              </a:rPr>
              <a:t>Supplier failure: </a:t>
            </a:r>
            <a:r>
              <a:rPr lang="en-US" sz="1100" dirty="0">
                <a:solidFill>
                  <a:srgbClr val="756B85"/>
                </a:solidFill>
              </a:rPr>
              <a:t>named supplier excluded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440"/>
                </a:solidFill>
              </a:rPr>
              <a:t>Demand increase: </a:t>
            </a:r>
            <a:r>
              <a:rPr lang="en-US" sz="1100" dirty="0">
                <a:solidFill>
                  <a:srgbClr val="756B85"/>
                </a:solidFill>
              </a:rPr>
              <a:t>quantity scaled up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440"/>
                </a:solidFill>
              </a:rPr>
              <a:t>Price / fuel increase: </a:t>
            </a:r>
            <a:r>
              <a:rPr lang="en-US" sz="1100" dirty="0">
                <a:solidFill>
                  <a:srgbClr val="756B85"/>
                </a:solidFill>
              </a:rPr>
              <a:t>prices or lane multiplier up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440"/>
                </a:solidFill>
              </a:rPr>
              <a:t>Route disruption: </a:t>
            </a:r>
            <a:r>
              <a:rPr lang="en-US" sz="1100" dirty="0">
                <a:solidFill>
                  <a:srgbClr val="756B85"/>
                </a:solidFill>
              </a:rPr>
              <a:t>lane capacity set to zero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440"/>
                </a:solidFill>
              </a:rPr>
              <a:t>Inventory shortage: </a:t>
            </a:r>
            <a:r>
              <a:rPr lang="en-US" sz="1100" dirty="0">
                <a:solidFill>
                  <a:srgbClr val="756B85"/>
                </a:solidFill>
              </a:rPr>
              <a:t>on-hand stock scaled down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440"/>
                </a:solidFill>
              </a:rPr>
              <a:t>Natural language: </a:t>
            </a:r>
            <a:r>
              <a:rPr lang="en-US" sz="1100" dirty="0">
                <a:solidFill>
                  <a:srgbClr val="756B85"/>
                </a:solidFill>
              </a:rPr>
              <a:t>sentence parsed into the above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566160"/>
            <a:ext cx="5239512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</a:rPr>
              <a:t>Safety and Governance Guarantees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402336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B2440"/>
                </a:solidFill>
              </a:rPr>
              <a:t>✓ Never overwritten: </a:t>
            </a:r>
            <a:r>
              <a:rPr lang="en-US" sz="1100" dirty="0">
                <a:solidFill>
                  <a:srgbClr val="756B85"/>
                </a:solidFill>
              </a:rPr>
              <a:t>the original plan and parent-child chain are preserved.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B2440"/>
                </a:solidFill>
              </a:rPr>
              <a:t>✓ Traceable: </a:t>
            </a:r>
            <a:r>
              <a:rPr lang="en-US" sz="1100" dirty="0">
                <a:solidFill>
                  <a:srgbClr val="756B85"/>
                </a:solidFill>
              </a:rPr>
              <a:t>each figure is attributed to the database, forecast, solver, policy or user input.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B2440"/>
                </a:solidFill>
              </a:rPr>
              <a:t>✓ Decision support: </a:t>
            </a:r>
            <a:r>
              <a:rPr lang="en-US" sz="1100" dirty="0">
                <a:solidFill>
                  <a:srgbClr val="756B85"/>
                </a:solidFill>
              </a:rPr>
              <a:t>plans are not automated purchase orders; the planner has final authority.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6F488-4C1B-5F9F-8A30-7E7977E4D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Outputs /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523951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pic>
        <p:nvPicPr>
          <p:cNvPr id="8" name="Image 0" descr="Query input, KPI cards and solver stat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8203"/>
            <a:ext cx="5239512" cy="15470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3375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</a:rPr>
              <a:t>Query input, KPI cards and solver status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23951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pic>
        <p:nvPicPr>
          <p:cNvPr id="11" name="Image 1" descr="Supplier allocation, routes and inventory p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045" y="1394460"/>
            <a:ext cx="3629822" cy="18745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72200" y="33375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</a:rPr>
              <a:t>Supplier allocation, routes and inventory plan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3840480"/>
            <a:ext cx="523951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pic>
        <p:nvPicPr>
          <p:cNvPr id="14" name="Image 2" descr="Human review panel and constraint feedba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098" y="3863340"/>
            <a:ext cx="4555795" cy="1874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77240" y="58064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</a:rPr>
              <a:t>Human review panel and constraint feedback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3840480"/>
            <a:ext cx="523951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pic>
        <p:nvPicPr>
          <p:cNvPr id="17" name="Image 3" descr="What-if comparison against the base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908978"/>
            <a:ext cx="5239512" cy="178324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72200" y="58064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D8E"/>
                </a:solidFill>
              </a:rPr>
              <a:t>What-if comparison against the baseline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14411-F060-EFB4-1EBD-6F128606F8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2D8E"/>
                </a:solidFill>
              </a:rPr>
              <a:t>Project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950976"/>
            <a:ext cx="100584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5212080" cy="4663440"/>
          </a:xfrm>
          <a:prstGeom prst="roundRect">
            <a:avLst>
              <a:gd name="adj" fmla="val 1373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645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Auditable, Solver-Grounded Supply Planning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2926080"/>
            <a:ext cx="82296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2004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1D6EE"/>
                </a:solidFill>
              </a:rPr>
              <a:t>OptiChain turns plain-English planning requests into optimised, sourced buy-and-ship plans using five specialist agents, OR-Tools MILP, hybrid policy RAG and human review. The language model never owns a number.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19379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4813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C518"/>
                </a:solidFill>
              </a:rPr>
              <a:t>KEY PILLAR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</a:rPr>
              <a:t>Language vs Mathematics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48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56B85"/>
                </a:solidFill>
              </a:rPr>
              <a:t>The LLM parses and explains; OR-Tools produces every quantity, cost and delivery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519379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0815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C518"/>
                </a:solidFill>
              </a:rPr>
              <a:t>KEY PILLAR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</a:rPr>
              <a:t>Human in Authority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49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56B85"/>
                </a:solidFill>
              </a:rPr>
              <a:t>Approve or give feedback; replans link to the parent and the original plan is kept.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519379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D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6817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C518"/>
                </a:solidFill>
              </a:rPr>
              <a:t>KEY PILLAR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D8E"/>
                </a:solidFill>
              </a:rPr>
              <a:t>Prototype Foundation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349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56B85"/>
                </a:solidFill>
              </a:rPr>
              <a:t>Synthetic data, no authentication yet; formal quantitative evaluation is the next step.</a:t>
            </a:r>
            <a:endParaRPr lang="en-US" sz="11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29B7D-F713-E9F3-BC87-5151378E5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D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08856" y="642026"/>
            <a:ext cx="6870946" cy="5573947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638089" y="34883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FFE82-9C48-080B-150B-2155662A9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62" y="5085"/>
            <a:ext cx="3214499" cy="11379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E6B7AD-1319-08B6-0784-9346E1518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718" y="1969079"/>
            <a:ext cx="1519221" cy="15192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ptiChain">
  <a:themeElements>
    <a:clrScheme name="OptiChain">
      <a:dk1>
        <a:srgbClr val="2B2440"/>
      </a:dk1>
      <a:lt1>
        <a:srgbClr val="FFFFFF"/>
      </a:lt1>
      <a:dk2>
        <a:srgbClr val="5B2D8E"/>
      </a:dk2>
      <a:lt2>
        <a:srgbClr val="F4F1F8"/>
      </a:lt2>
      <a:accent1>
        <a:srgbClr val="5B2D8E"/>
      </a:accent1>
      <a:accent2>
        <a:srgbClr val="F5C518"/>
      </a:accent2>
      <a:accent3>
        <a:srgbClr val="756B85"/>
      </a:accent3>
      <a:accent4>
        <a:srgbClr val="E1D6EE"/>
      </a:accent4>
      <a:accent5>
        <a:srgbClr val="3D1F5E"/>
      </a:accent5>
      <a:accent6>
        <a:srgbClr val="FFDB4D"/>
      </a:accent6>
      <a:hlink>
        <a:srgbClr val="5B2D8E"/>
      </a:hlink>
      <a:folHlink>
        <a:srgbClr val="756B85"/>
      </a:folHlink>
    </a:clrScheme>
    <a:fontScheme name="OptiCh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864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OptiChain</vt:lpstr>
      <vt:lpstr>PowerPoint Presentation</vt:lpstr>
      <vt:lpstr>Problem Statement</vt:lpstr>
      <vt:lpstr>Proposed System: Planning Pipeline</vt:lpstr>
      <vt:lpstr>Proposed System: Architecture</vt:lpstr>
      <vt:lpstr>Agent Components</vt:lpstr>
      <vt:lpstr>Module: OR-Tools MILP Optimizer</vt:lpstr>
      <vt:lpstr>Module: Human-in-the-Loop and What-If</vt:lpstr>
      <vt:lpstr>Outputs / Results</vt:lpstr>
      <vt:lpstr>Project 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OptiChain: Multi-Agent Supply Chain Planning Platform</dc:title>
  <dc:subject>PptxGenJS Presentation</dc:subject>
  <dc:creator>Ganesh S, Gokulakrishnan S</dc:creator>
  <cp:lastModifiedBy>Beyak 16</cp:lastModifiedBy>
  <cp:revision>3</cp:revision>
  <dcterms:created xsi:type="dcterms:W3CDTF">2026-10-05T17:32:30Z</dcterms:created>
  <dcterms:modified xsi:type="dcterms:W3CDTF">2026-10-05T18:14:24Z</dcterms:modified>
</cp:coreProperties>
</file>